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E5BA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914400" cy="9144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430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945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LexBlue</a:t>
            </a:r>
            <a:endParaRPr lang="en-US" sz="8400" dirty="0"/>
          </a:p>
        </p:txBody>
      </p:sp>
      <p:sp>
        <p:nvSpPr>
          <p:cNvPr id="7" name="Text 4"/>
          <p:cNvSpPr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AE6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E-Learning Platform – Team Presentation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 Enroll. Learn. Built with Next.js · Firebase · Stripe.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669280"/>
            <a:ext cx="10515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Date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6080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8 May 2026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Team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6080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Ahmad · Ahmed · Erik · Shada · Irene · Johan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built and the problem it solves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What we built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LexBlue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full-stack e-learning platform for discovering, enrolling in, and consuming online IT &amp; programming courses.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Public catalog with filtering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Stripe-powered course enrollment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Real-time progress tracking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Embedded YouTube video player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Role-based access (student / admin)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486400" cy="4572000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83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The problem we solve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537960" y="24231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0"/>
          <p:cNvSpPr/>
          <p:nvPr/>
        </p:nvSpPr>
        <p:spPr>
          <a:xfrm>
            <a:off x="653796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99516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Fragmented learning UX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99516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Students juggle multiple sites, players and tools.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537960" y="32918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4"/>
          <p:cNvSpPr/>
          <p:nvPr/>
        </p:nvSpPr>
        <p:spPr>
          <a:xfrm>
            <a:off x="65379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99516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Slow, clunky course pages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99516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Bad SEO, weak conversion on course landings.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37960" y="41605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18"/>
          <p:cNvSpPr/>
          <p:nvPr/>
        </p:nvSpPr>
        <p:spPr>
          <a:xfrm>
            <a:off x="653796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99516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Manual progress tracking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99516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Hard to know where you left off across devices.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537960" y="50292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6537960" y="5029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99516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 clean monetization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99516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Hosting + payments + access are usually separate.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18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Process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planned the project and organized tasks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215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2602154" cy="9144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7" name="Shape 5"/>
          <p:cNvSpPr/>
          <p:nvPr/>
        </p:nvSpPr>
        <p:spPr>
          <a:xfrm>
            <a:off x="1483957" y="233172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1483957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677" y="33375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11480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Define vision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4617720"/>
            <a:ext cx="22363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MVP scope, target users, must-have features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79394" y="1920240"/>
            <a:ext cx="260215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79394" y="1920240"/>
            <a:ext cx="2602154" cy="9144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14" name="Shape 11"/>
          <p:cNvSpPr/>
          <p:nvPr/>
        </p:nvSpPr>
        <p:spPr>
          <a:xfrm>
            <a:off x="4314711" y="233172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4314711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431" y="333756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62274" y="411480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Architect routes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62274" y="4617720"/>
            <a:ext cx="22363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Map App Router pages: public, protected, admin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0148" y="1920240"/>
            <a:ext cx="260215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0148" y="1920240"/>
            <a:ext cx="2602154" cy="9144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21" name="Shape 17"/>
          <p:cNvSpPr/>
          <p:nvPr/>
        </p:nvSpPr>
        <p:spPr>
          <a:xfrm>
            <a:off x="7145465" y="233172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8"/>
          <p:cNvSpPr/>
          <p:nvPr/>
        </p:nvSpPr>
        <p:spPr>
          <a:xfrm>
            <a:off x="7145465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185" y="3337560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93028" y="411480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Design schema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393028" y="4617720"/>
            <a:ext cx="22363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Firestore: users, courses, enrollments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040901" y="1920240"/>
            <a:ext cx="260215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40901" y="1920240"/>
            <a:ext cx="2602154" cy="9144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28" name="Shape 23"/>
          <p:cNvSpPr/>
          <p:nvPr/>
        </p:nvSpPr>
        <p:spPr>
          <a:xfrm>
            <a:off x="9976218" y="233172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9" name="Text 24"/>
          <p:cNvSpPr/>
          <p:nvPr/>
        </p:nvSpPr>
        <p:spPr>
          <a:xfrm>
            <a:off x="997621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938" y="3337560"/>
            <a:ext cx="640080" cy="6400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223781" y="411480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Distribute work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9223781" y="4617720"/>
            <a:ext cx="22363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One member owns one page; sync in Teams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4" name="Text 28"/>
          <p:cNvSpPr/>
          <p:nvPr/>
        </p:nvSpPr>
        <p:spPr>
          <a:xfrm>
            <a:off x="731520" y="60807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Tasks organized in Microsoft Teams </a:t>
            </a:r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</a:rPr>
              <a:t>·  Each member owns one page  ·  Branch-per-feature on GitHub  ·  Daily async standups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18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Task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owner per page – clear and traceable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4573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91440" cy="2057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57400"/>
            <a:ext cx="868680" cy="86868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0B1F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057400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Ahmad Ghawi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74520" y="246888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A8"/>
                </a:solidFill>
              </a:rPr>
              <a:t>Project Lead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3108960"/>
            <a:ext cx="3042818" cy="41148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108960"/>
            <a:ext cx="2768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22978" y="1691640"/>
            <a:ext cx="354573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22978" y="1691640"/>
            <a:ext cx="91440" cy="205740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15" name="Shape 12"/>
          <p:cNvSpPr/>
          <p:nvPr/>
        </p:nvSpPr>
        <p:spPr>
          <a:xfrm>
            <a:off x="4597298" y="2057400"/>
            <a:ext cx="868680" cy="86868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178" y="224028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48858" y="2057400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Ahmed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648858" y="246888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A8"/>
                </a:solidFill>
              </a:rPr>
              <a:t>Admin &amp; Course Details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97298" y="3108960"/>
            <a:ext cx="3042818" cy="41148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34458" y="3108960"/>
            <a:ext cx="2768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admin-management / course-details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097317" y="1691640"/>
            <a:ext cx="354573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97317" y="1691640"/>
            <a:ext cx="91440" cy="205740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23" name="Shape 19"/>
          <p:cNvSpPr/>
          <p:nvPr/>
        </p:nvSpPr>
        <p:spPr>
          <a:xfrm>
            <a:off x="8371637" y="2057400"/>
            <a:ext cx="868680" cy="86868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517" y="224028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423197" y="2057400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Erik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9423197" y="246888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A8"/>
                </a:solidFill>
              </a:rPr>
              <a:t>Home Page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371637" y="3108960"/>
            <a:ext cx="3042818" cy="41148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508797" y="3108960"/>
            <a:ext cx="2768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erik-lj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3977640"/>
            <a:ext cx="354573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8640" y="3977640"/>
            <a:ext cx="91440" cy="205740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31" name="Shape 26"/>
          <p:cNvSpPr/>
          <p:nvPr/>
        </p:nvSpPr>
        <p:spPr>
          <a:xfrm>
            <a:off x="822960" y="4343400"/>
            <a:ext cx="868680" cy="86868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2628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874520" y="4343400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Shada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874520" y="475488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A8"/>
                </a:solidFill>
              </a:rPr>
              <a:t>Courses Catalog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22960" y="5394960"/>
            <a:ext cx="3042818" cy="41148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60120" y="5394960"/>
            <a:ext cx="2768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shada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322978" y="3977640"/>
            <a:ext cx="354573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322978" y="3977640"/>
            <a:ext cx="91440" cy="205740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39" name="Shape 33"/>
          <p:cNvSpPr/>
          <p:nvPr/>
        </p:nvSpPr>
        <p:spPr>
          <a:xfrm>
            <a:off x="4597298" y="4343400"/>
            <a:ext cx="868680" cy="86868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178" y="4526280"/>
            <a:ext cx="502920" cy="5029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648858" y="4343400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Irene</a:t>
            </a:r>
            <a:endParaRPr lang="en-US" sz="1800" dirty="0"/>
          </a:p>
        </p:txBody>
      </p:sp>
      <p:sp>
        <p:nvSpPr>
          <p:cNvPr id="42" name="Text 35"/>
          <p:cNvSpPr/>
          <p:nvPr/>
        </p:nvSpPr>
        <p:spPr>
          <a:xfrm>
            <a:off x="5648858" y="475488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A8"/>
                </a:solidFill>
              </a:rPr>
              <a:t>Dashboard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4597298" y="5394960"/>
            <a:ext cx="3042818" cy="41148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734458" y="5394960"/>
            <a:ext cx="2768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irene / dashboard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097317" y="3977640"/>
            <a:ext cx="354573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097317" y="3977640"/>
            <a:ext cx="91440" cy="205740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47" name="Shape 40"/>
          <p:cNvSpPr/>
          <p:nvPr/>
        </p:nvSpPr>
        <p:spPr>
          <a:xfrm>
            <a:off x="8371637" y="4343400"/>
            <a:ext cx="868680" cy="86868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517" y="4526280"/>
            <a:ext cx="502920" cy="50292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9423197" y="4343400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Johan</a:t>
            </a:r>
            <a:endParaRPr lang="en-US" sz="1800" dirty="0"/>
          </a:p>
        </p:txBody>
      </p:sp>
      <p:sp>
        <p:nvSpPr>
          <p:cNvPr id="50" name="Text 42"/>
          <p:cNvSpPr/>
          <p:nvPr/>
        </p:nvSpPr>
        <p:spPr>
          <a:xfrm>
            <a:off x="9423197" y="475488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A8"/>
                </a:solidFill>
              </a:rPr>
              <a:t>My Learning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8371637" y="5394960"/>
            <a:ext cx="3042818" cy="41148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8508797" y="5394960"/>
            <a:ext cx="2768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my-learning</a:t>
            </a:r>
            <a:endParaRPr lang="en-US" sz="1100" dirty="0"/>
          </a:p>
        </p:txBody>
      </p:sp>
      <p:sp>
        <p:nvSpPr>
          <p:cNvPr id="53" name="Text 45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18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 &amp; 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implemented LexBlue and the tools we used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76218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576218" cy="50292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23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26771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Next.js 16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17320" y="256032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App Router, Server Components, SEO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324612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83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22783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React 19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17320" y="352044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Modern hooks, suspense, RSC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85800" y="420624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18795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TypeScript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17320" y="448056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Strict typing across all models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5800" y="516636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035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514807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Tailwind CSS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17320" y="544068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+ shadcn/ui · Radix primitives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07738" y="1554480"/>
            <a:ext cx="3576218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07738" y="1554480"/>
            <a:ext cx="357621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0"/>
          <p:cNvSpPr/>
          <p:nvPr/>
        </p:nvSpPr>
        <p:spPr>
          <a:xfrm>
            <a:off x="4536338" y="1554480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 &amp; Services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4536338" y="228600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498" y="242316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67858" y="226771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Firebase Auth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267858" y="256032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Email/password + Google sign-in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536338" y="324612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498" y="338328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67858" y="322783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Cloud Firestore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267858" y="352044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Real-time NoSQL · 3 collections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4536338" y="420624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3498" y="4343400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67858" y="418795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Stripe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5267858" y="448056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Server-side Checkout Sessions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536338" y="516636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3498" y="5303520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267858" y="514807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YouTube Embed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5267858" y="544068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Video delivery (no raw hosting)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8158277" y="1554480"/>
            <a:ext cx="3576218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8158277" y="1554480"/>
            <a:ext cx="3576218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5" name="Text 35"/>
          <p:cNvSpPr/>
          <p:nvPr/>
        </p:nvSpPr>
        <p:spPr>
          <a:xfrm>
            <a:off x="8386877" y="1554480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Workflow</a:t>
            </a:r>
            <a:endParaRPr lang="en-US" sz="1600" dirty="0"/>
          </a:p>
        </p:txBody>
      </p:sp>
      <p:sp>
        <p:nvSpPr>
          <p:cNvPr id="46" name="Shape 36"/>
          <p:cNvSpPr/>
          <p:nvPr/>
        </p:nvSpPr>
        <p:spPr>
          <a:xfrm>
            <a:off x="8386877" y="228600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4037" y="2423160"/>
            <a:ext cx="365760" cy="36576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118397" y="226771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GitHub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9118397" y="256032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Branch-per-feature + PR reviews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8386877" y="324612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4037" y="3383280"/>
            <a:ext cx="365760" cy="36576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118397" y="322783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Microsoft Teams</a:t>
            </a:r>
            <a:endParaRPr lang="en-US" sz="1300" dirty="0"/>
          </a:p>
        </p:txBody>
      </p:sp>
      <p:sp>
        <p:nvSpPr>
          <p:cNvPr id="53" name="Text 41"/>
          <p:cNvSpPr/>
          <p:nvPr/>
        </p:nvSpPr>
        <p:spPr>
          <a:xfrm>
            <a:off x="9118397" y="352044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Meetings + task management</a:t>
            </a:r>
            <a:endParaRPr lang="en-US" sz="1050" dirty="0"/>
          </a:p>
        </p:txBody>
      </p:sp>
      <p:sp>
        <p:nvSpPr>
          <p:cNvPr id="54" name="Shape 42"/>
          <p:cNvSpPr/>
          <p:nvPr/>
        </p:nvSpPr>
        <p:spPr>
          <a:xfrm>
            <a:off x="8386877" y="420624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4037" y="4343400"/>
            <a:ext cx="365760" cy="36576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9118397" y="418795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Stitch (Google)</a:t>
            </a:r>
            <a:endParaRPr lang="en-US" sz="1300" dirty="0"/>
          </a:p>
        </p:txBody>
      </p:sp>
      <p:sp>
        <p:nvSpPr>
          <p:cNvPr id="57" name="Text 44"/>
          <p:cNvSpPr/>
          <p:nvPr/>
        </p:nvSpPr>
        <p:spPr>
          <a:xfrm>
            <a:off x="9118397" y="448056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UI/UX design &amp; prototyping</a:t>
            </a:r>
            <a:endParaRPr lang="en-US" sz="1050" dirty="0"/>
          </a:p>
        </p:txBody>
      </p:sp>
      <p:sp>
        <p:nvSpPr>
          <p:cNvPr id="58" name="Shape 45"/>
          <p:cNvSpPr/>
          <p:nvPr/>
        </p:nvSpPr>
        <p:spPr>
          <a:xfrm>
            <a:off x="8386877" y="5166360"/>
            <a:ext cx="640080" cy="640080"/>
          </a:xfrm>
          <a:prstGeom prst="ellipse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4037" y="5303520"/>
            <a:ext cx="365760" cy="365760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9118397" y="5148072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assistants</a:t>
            </a:r>
            <a:endParaRPr lang="en-US" sz="1300" dirty="0"/>
          </a:p>
        </p:txBody>
      </p:sp>
      <p:sp>
        <p:nvSpPr>
          <p:cNvPr id="61" name="Text 47"/>
          <p:cNvSpPr/>
          <p:nvPr/>
        </p:nvSpPr>
        <p:spPr>
          <a:xfrm>
            <a:off x="9118397" y="5440680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Code, docs, debug &amp; review</a:t>
            </a:r>
            <a:endParaRPr lang="en-US" sz="1050" dirty="0"/>
          </a:p>
        </p:txBody>
      </p:sp>
      <p:sp>
        <p:nvSpPr>
          <p:cNvPr id="62" name="Text 48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18</a:t>
            </a:r>
            <a:endParaRPr lang="en-US" sz="900" dirty="0"/>
          </a:p>
        </p:txBody>
      </p:sp>
      <p:sp>
        <p:nvSpPr>
          <p:cNvPr id="63" name="Text 49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User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sign-in to course completion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Register / Log 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E5BA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Browse Courses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E5BA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Course Details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2011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Enroll (Stripe)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377440"/>
            <a:ext cx="365760" cy="0"/>
          </a:xfrm>
          <a:prstGeom prst="line">
            <a:avLst/>
          </a:prstGeom>
          <a:noFill/>
          <a:ln w="31750">
            <a:solidFill>
              <a:srgbClr val="1E5BA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0" y="2377440"/>
            <a:ext cx="365760" cy="0"/>
          </a:xfrm>
          <a:prstGeom prst="line">
            <a:avLst/>
          </a:prstGeom>
          <a:noFill/>
          <a:ln w="31750">
            <a:solidFill>
              <a:srgbClr val="1E5BA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2377440"/>
            <a:ext cx="365760" cy="0"/>
          </a:xfrm>
          <a:prstGeom prst="line">
            <a:avLst/>
          </a:prstGeom>
          <a:noFill/>
          <a:ln w="31750">
            <a:solidFill>
              <a:srgbClr val="1E5B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78240" y="2743200"/>
            <a:ext cx="0" cy="731520"/>
          </a:xfrm>
          <a:prstGeom prst="line">
            <a:avLst/>
          </a:prstGeom>
          <a:noFill/>
          <a:ln w="31750">
            <a:solidFill>
              <a:srgbClr val="1E5B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3474720"/>
            <a:ext cx="-914" cy="0"/>
          </a:xfrm>
          <a:prstGeom prst="line">
            <a:avLst/>
          </a:prstGeom>
          <a:noFill/>
          <a:ln w="31750">
            <a:solidFill>
              <a:srgbClr val="1E5BA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78240" y="2743200"/>
            <a:ext cx="914" cy="914400"/>
          </a:xfrm>
          <a:prstGeom prst="line">
            <a:avLst/>
          </a:prstGeom>
          <a:noFill/>
          <a:ln w="31750">
            <a:solidFill>
              <a:srgbClr val="1E5B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0" y="37490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E5BA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Watch Lesson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37490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E5BA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9496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 Complete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37490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E5BA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01752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Progress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Course Completed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0" y="4114800"/>
            <a:ext cx="-365760" cy="0"/>
          </a:xfrm>
          <a:prstGeom prst="line">
            <a:avLst/>
          </a:prstGeom>
          <a:noFill/>
          <a:ln w="31750">
            <a:solidFill>
              <a:srgbClr val="1E5BA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394960" y="4114800"/>
            <a:ext cx="-365760" cy="0"/>
          </a:xfrm>
          <a:prstGeom prst="line">
            <a:avLst/>
          </a:prstGeom>
          <a:noFill/>
          <a:ln w="31750">
            <a:solidFill>
              <a:srgbClr val="1E5BA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17520" y="4114800"/>
            <a:ext cx="-365760" cy="0"/>
          </a:xfrm>
          <a:prstGeom prst="line">
            <a:avLst/>
          </a:prstGeom>
          <a:noFill/>
          <a:ln w="31750">
            <a:solidFill>
              <a:srgbClr val="1E5BA8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01752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If lessons remain → loop back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23360" y="3749040"/>
            <a:ext cx="0" cy="-36576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023360" y="3383280"/>
            <a:ext cx="47548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778240" y="3383280"/>
            <a:ext cx="0" cy="36576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40080" y="5120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Legend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532120"/>
            <a:ext cx="36576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" y="5504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Auth gate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5532120"/>
            <a:ext cx="365760" cy="27432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38" name="Text 36"/>
          <p:cNvSpPr/>
          <p:nvPr/>
        </p:nvSpPr>
        <p:spPr>
          <a:xfrm>
            <a:off x="3749040" y="5504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Public / learning page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5532120"/>
            <a:ext cx="36576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5504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Action (payment)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95360" y="5532120"/>
            <a:ext cx="36576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9052560" y="5504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Completion state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60807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BA8"/>
                </a:solidFill>
              </a:rPr>
              <a:t>Real-time sync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via Firestore — students resume on any device exactly where they left off.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 Walkthrough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Discovery → Catalog → Course Details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57621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576218" cy="128016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688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Home  ( / 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53258" y="1920240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2753258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Erik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971800"/>
            <a:ext cx="3576218" cy="41148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97180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(public)/page.tsx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611880"/>
            <a:ext cx="302757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Marketing hero + value prop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Featured / popular courses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SEO-optimized server components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07738" y="1691640"/>
            <a:ext cx="357621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07738" y="1691640"/>
            <a:ext cx="3576218" cy="128016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58" y="19202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82058" y="24688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Courses  ( /courses 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603797" y="1920240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9" name="Text 15"/>
          <p:cNvSpPr/>
          <p:nvPr/>
        </p:nvSpPr>
        <p:spPr>
          <a:xfrm>
            <a:off x="6603797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Shada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307738" y="2971800"/>
            <a:ext cx="3576218" cy="41148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21" name="Text 17"/>
          <p:cNvSpPr/>
          <p:nvPr/>
        </p:nvSpPr>
        <p:spPr>
          <a:xfrm>
            <a:off x="4582058" y="297180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(public)/courses/page.tsx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82058" y="3611880"/>
            <a:ext cx="302757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Responsive grid catalog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Filter: category · level · price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Free vs paid badges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158277" y="1691640"/>
            <a:ext cx="357621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58277" y="1691640"/>
            <a:ext cx="3576218" cy="128016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192024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432597" y="24688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Course Details  ( /courses/[id] )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10454335" y="1920240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28" name="Text 23"/>
          <p:cNvSpPr/>
          <p:nvPr/>
        </p:nvSpPr>
        <p:spPr>
          <a:xfrm>
            <a:off x="10454335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Ahmed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158277" y="2971800"/>
            <a:ext cx="3576218" cy="41148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30" name="Text 25"/>
          <p:cNvSpPr/>
          <p:nvPr/>
        </p:nvSpPr>
        <p:spPr>
          <a:xfrm>
            <a:off x="8432597" y="297180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(public)/courses/[courseId]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432597" y="3611880"/>
            <a:ext cx="302757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Hero, syllabus &amp; instructor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Stripe enrollment for paid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Free preview lessons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&amp; Admin Pages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Personalized learning + back-office controls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57621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576218" cy="1280160"/>
          </a:xfrm>
          <a:prstGeom prst="rect">
            <a:avLst/>
          </a:prstGeom>
          <a:solidFill>
            <a:srgbClr val="1E5B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74520"/>
            <a:ext cx="1290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53258" y="2468880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2753258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Irene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971800"/>
            <a:ext cx="3576218" cy="41148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97180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(protected)/dashboard/page.tsx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3611880"/>
            <a:ext cx="302757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Profile + metric cards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Enrolled / Completed / Progress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Continue learning section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07738" y="1691640"/>
            <a:ext cx="357621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07738" y="1691640"/>
            <a:ext cx="3576218" cy="1280160"/>
          </a:xfrm>
          <a:prstGeom prst="rect">
            <a:avLst/>
          </a:prstGeom>
          <a:solidFill>
            <a:srgbClr val="1E5B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58" y="187452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76418" y="1874520"/>
            <a:ext cx="1290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My Learning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603797" y="2468880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9" name="Text 15"/>
          <p:cNvSpPr/>
          <p:nvPr/>
        </p:nvSpPr>
        <p:spPr>
          <a:xfrm>
            <a:off x="6603797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Johan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307738" y="2971800"/>
            <a:ext cx="3576218" cy="41148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21" name="Text 17"/>
          <p:cNvSpPr/>
          <p:nvPr/>
        </p:nvSpPr>
        <p:spPr>
          <a:xfrm>
            <a:off x="4536338" y="297180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(protected)/mylearning/[courseId]/[lessonId]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82058" y="3611880"/>
            <a:ext cx="302757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Split-pane: video + curriculum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Mark lesson complete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Real-time progress to Firestore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158277" y="1691640"/>
            <a:ext cx="357621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58277" y="1691640"/>
            <a:ext cx="3576218" cy="1280160"/>
          </a:xfrm>
          <a:prstGeom prst="rect">
            <a:avLst/>
          </a:prstGeom>
          <a:solidFill>
            <a:srgbClr val="1E5BA8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187452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26957" y="1874520"/>
            <a:ext cx="1290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10454335" y="2468880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28" name="Text 23"/>
          <p:cNvSpPr/>
          <p:nvPr/>
        </p:nvSpPr>
        <p:spPr>
          <a:xfrm>
            <a:off x="10454335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Ahmed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158277" y="2971800"/>
            <a:ext cx="3576218" cy="41148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30" name="Text 25"/>
          <p:cNvSpPr/>
          <p:nvPr/>
        </p:nvSpPr>
        <p:spPr>
          <a:xfrm>
            <a:off x="8386877" y="297180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(admin)/admin/page.tsx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432597" y="3611880"/>
            <a:ext cx="302757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KPI cards: courses, students, drafts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Manage courses / users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Role-gated by Firebase claims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Firestore collections power everything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576218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576218" cy="64008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74520"/>
            <a:ext cx="54864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29818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2560320"/>
            <a:ext cx="3301898" cy="50292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56032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315468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3301898" cy="50292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374904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434340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| admin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937760"/>
            <a:ext cx="3301898" cy="50292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37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493776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07738" y="1691640"/>
            <a:ext cx="3576218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07738" y="1691640"/>
            <a:ext cx="357621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36338" y="1874520"/>
            <a:ext cx="54864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719218" y="1691640"/>
            <a:ext cx="29818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/courses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444898" y="2560320"/>
            <a:ext cx="3301898" cy="50292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27" name="Text 25"/>
          <p:cNvSpPr/>
          <p:nvPr/>
        </p:nvSpPr>
        <p:spPr>
          <a:xfrm>
            <a:off x="4582058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90818" y="256032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82058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/ level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90818" y="315468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44898" y="3749040"/>
            <a:ext cx="3301898" cy="50292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32" name="Text 30"/>
          <p:cNvSpPr/>
          <p:nvPr/>
        </p:nvSpPr>
        <p:spPr>
          <a:xfrm>
            <a:off x="4582058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· isFree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90818" y="374904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/ bool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82058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isPublished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90818" y="434340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44898" y="4937760"/>
            <a:ext cx="3301898" cy="50292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37" name="Text 35"/>
          <p:cNvSpPr/>
          <p:nvPr/>
        </p:nvSpPr>
        <p:spPr>
          <a:xfrm>
            <a:off x="4582058" y="4937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modules[]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90818" y="493776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Module[]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58277" y="1691640"/>
            <a:ext cx="3576218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58277" y="1691640"/>
            <a:ext cx="3576218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1" name="Shape 39"/>
          <p:cNvSpPr/>
          <p:nvPr/>
        </p:nvSpPr>
        <p:spPr>
          <a:xfrm>
            <a:off x="8386877" y="1874520"/>
            <a:ext cx="54864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569757" y="1691640"/>
            <a:ext cx="29818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/enrollments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295437" y="2560320"/>
            <a:ext cx="3301898" cy="50292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432597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941357" y="256032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users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32597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courseId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941357" y="315468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courses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95437" y="3749040"/>
            <a:ext cx="3301898" cy="50292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49" name="Text 47"/>
          <p:cNvSpPr/>
          <p:nvPr/>
        </p:nvSpPr>
        <p:spPr>
          <a:xfrm>
            <a:off x="8432597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941357" y="374904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0-100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432597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completedLessons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941357" y="434340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295437" y="4937760"/>
            <a:ext cx="3301898" cy="50292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54" name="Text 52"/>
          <p:cNvSpPr/>
          <p:nvPr/>
        </p:nvSpPr>
        <p:spPr>
          <a:xfrm>
            <a:off x="8432597" y="4937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lastLessonId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941357" y="4937760"/>
            <a:ext cx="1655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5806440"/>
            <a:ext cx="11277295" cy="59436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97880"/>
            <a:ext cx="365760" cy="365760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1143000" y="580644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Security: </a:t>
            </a:r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</a:rPr>
              <a:t>Public read on courses, owner-only on enrollments, admin role enforced via Firestore rules + Next.js middleware.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18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– Live Database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Firebase project ‘LexBlue’ in the Firestore console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7295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11277295" cy="5029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Firestore  ›  Database  ›  (default)  ›  users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71455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185855" y="2148840"/>
            <a:ext cx="36576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28600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(default)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+ Start collection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2743200"/>
            <a:ext cx="2011680" cy="32461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51760" y="2286000"/>
            <a:ext cx="24688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27889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users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8892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+ Add document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51760" y="2743200"/>
            <a:ext cx="2468880" cy="32461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2286000"/>
            <a:ext cx="30175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534924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OSxirNaXpfUdSVEsTWPNllUG4hx2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492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+ Start collection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212080" y="2743200"/>
            <a:ext cx="3017520" cy="32461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2286000"/>
            <a:ext cx="3047695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8458200" y="228600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Fields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458200" y="2788920"/>
            <a:ext cx="2773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+ Add field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2743200"/>
            <a:ext cx="3047695" cy="32461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" y="3520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3931920"/>
            <a:ext cx="20116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3931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286000" y="393192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›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2651760" y="3108960"/>
            <a:ext cx="24688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0"/>
          <p:cNvSpPr/>
          <p:nvPr/>
        </p:nvSpPr>
        <p:spPr>
          <a:xfrm>
            <a:off x="2788920" y="3108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OSxirNaXpfUdSVEsTWPNllUG4hx2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46320" y="31089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›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2788920" y="3520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4JaB7RkaRDYr0yl7KUcbRULqdym1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2788920" y="39319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SQkDQOvPeLgolGlclGIviY7HOH22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278892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XmkuesR9qLPjmlcfH1Og4TzGVb23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788920" y="4754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iHOCKnQ4migxtuntqxXYmsDKmX53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34924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(no sub-collections)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45820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326880" y="32004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: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464040" y="3200400"/>
            <a:ext cx="1767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"2026-04-30T17:23:24.274Z"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45820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9326880" y="370332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: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9464040" y="3703320"/>
            <a:ext cx="1767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"abc@gmail.com"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45820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326880" y="42062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: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9464040" y="4206240"/>
            <a:ext cx="1767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"student"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4582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9326880" y="470916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: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9464040" y="4709160"/>
            <a:ext cx="1767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"OSxirNaXpfUdSVEsTWPNllUG4hx2"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0"/>
          <p:cNvSpPr/>
          <p:nvPr/>
        </p:nvSpPr>
        <p:spPr>
          <a:xfrm>
            <a:off x="685800" y="59893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Live data: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5 user documents · 3 top-level collections (users · courses · enrollments) · default role on sign-up = 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18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Collaboration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worked together day to 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0148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501488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914400" cy="91440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0078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5740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Microsoft Teams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28800" y="2560320"/>
            <a:ext cx="3947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Weekly sync meetings · async chat per page · task lists · screen-share for code reviews.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3008" y="1691640"/>
            <a:ext cx="550148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33008" y="1691640"/>
            <a:ext cx="5501488" cy="9144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13" name="Shape 10"/>
          <p:cNvSpPr/>
          <p:nvPr/>
        </p:nvSpPr>
        <p:spPr>
          <a:xfrm>
            <a:off x="6507328" y="2057400"/>
            <a:ext cx="914400" cy="91440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2402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04608" y="205740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Stitch (Google)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604608" y="2560320"/>
            <a:ext cx="3947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Shared design space — UI mockups, layout drafts, component visuals before we write code.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4023360"/>
            <a:ext cx="550148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4023360"/>
            <a:ext cx="5501488" cy="91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" y="4389120"/>
            <a:ext cx="914400" cy="91440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0F17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38912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GitHub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828800" y="4892040"/>
            <a:ext cx="3947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One branch per page · pull requests · code review · main is the source of truth.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33008" y="4023360"/>
            <a:ext cx="550148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33008" y="4023360"/>
            <a:ext cx="5501488" cy="91440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25" name="Shape 20"/>
          <p:cNvSpPr/>
          <p:nvPr/>
        </p:nvSpPr>
        <p:spPr>
          <a:xfrm>
            <a:off x="6507328" y="4389120"/>
            <a:ext cx="914400" cy="91440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FFA00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457200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04608" y="438912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Firebase Console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604608" y="4892040"/>
            <a:ext cx="3947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Shared Firebase project (LexBlue) — admin invites, Firestore data, Auth user list.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18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Branch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Branch-per-page kept work isolated and reviewable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7295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11277295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Branch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Owner / 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1691640"/>
            <a:ext cx="1493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11277295" cy="41148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25856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BAE6F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58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Default branch · production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258568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2585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Default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0" y="2194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5h ago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67004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BAE6F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70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my-learning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Johan · Learning UI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2670048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26700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Active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8h ago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11277295" cy="41148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08152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BAE6F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0815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course-details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Ahmed · Course detail page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081528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3081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Active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0" y="3017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9h ago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349300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BAE6FD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4930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Irene · Dashboard (rebase WIP)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3493008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34930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Active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5840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11h ago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840480"/>
            <a:ext cx="11277295" cy="41148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" y="390448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BAE6FD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9044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Irene · Dashboard polish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0" y="3904488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Active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05840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yesterday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" y="431596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BAE6FD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admin-management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43200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Ahmed · Admin panel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43600" y="4315968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/>
        </p:spPr>
      </p:sp>
      <p:sp>
        <p:nvSpPr>
          <p:cNvPr id="54" name="Text 52"/>
          <p:cNvSpPr/>
          <p:nvPr/>
        </p:nvSpPr>
        <p:spPr>
          <a:xfrm>
            <a:off x="5943600" y="43159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Active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22960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058400" y="4251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yesterday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4663440"/>
            <a:ext cx="11277295" cy="41148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58" name="Shape 56"/>
          <p:cNvSpPr/>
          <p:nvPr/>
        </p:nvSpPr>
        <p:spPr>
          <a:xfrm>
            <a:off x="640080" y="472744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BAE6FD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" y="4727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shada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743200" y="4663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Shada · Courses catalog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943600" y="4727448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/>
        </p:spPr>
      </p:sp>
      <p:sp>
        <p:nvSpPr>
          <p:cNvPr id="62" name="Text 60"/>
          <p:cNvSpPr/>
          <p:nvPr/>
        </p:nvSpPr>
        <p:spPr>
          <a:xfrm>
            <a:off x="5943600" y="4727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Active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229600" y="4663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#13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058400" y="4663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yesterday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513892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BAE6FD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" y="5138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erik-lj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743200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Erik · Home / landing page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943600" y="5138928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/>
        </p:spPr>
      </p:sp>
      <p:sp>
        <p:nvSpPr>
          <p:cNvPr id="69" name="Text 67"/>
          <p:cNvSpPr/>
          <p:nvPr/>
        </p:nvSpPr>
        <p:spPr>
          <a:xfrm>
            <a:off x="5943600" y="51389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Active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229600" y="5074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058400" y="5074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yesterday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3" name="Text 71"/>
          <p:cNvSpPr/>
          <p:nvPr/>
        </p:nvSpPr>
        <p:spPr>
          <a:xfrm>
            <a:off x="685800" y="59893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Workflow:  </a:t>
            </a:r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  →  branch off  →  push  →  PR review  →  merge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18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hit – and how we got past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7295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91440" cy="7680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24228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42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Challenge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Next.js 16 has breaking changes vs older docs</a:t>
            </a:r>
            <a:endParaRPr lang="en-US" sz="1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892808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0" y="1824228"/>
            <a:ext cx="502920" cy="50292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90195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Solution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583680" y="1965960"/>
            <a:ext cx="4967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Read in-package docs first (node_modules/next/dist/docs) before writing code; lean on Server Components and the new App Router patterns.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596896"/>
            <a:ext cx="11277295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596896"/>
            <a:ext cx="91440" cy="7680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2729484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9" name="Text 15"/>
          <p:cNvSpPr/>
          <p:nvPr/>
        </p:nvSpPr>
        <p:spPr>
          <a:xfrm>
            <a:off x="731520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⚠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371600" y="2642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Challenge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371600" y="28712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Coordinating 6 people on a single repo</a:t>
            </a:r>
            <a:endParaRPr lang="en-US" sz="1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798064"/>
            <a:ext cx="365760" cy="365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943600" y="2729484"/>
            <a:ext cx="502920" cy="50292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80720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2642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Solution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583680" y="2871216"/>
            <a:ext cx="4967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Branch per page · clear ownership in Teams · pull from main daily before pushing to avoid conflicts.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" y="3502152"/>
            <a:ext cx="11277295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" y="3502152"/>
            <a:ext cx="91440" cy="7680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Shape 23"/>
          <p:cNvSpPr/>
          <p:nvPr/>
        </p:nvSpPr>
        <p:spPr>
          <a:xfrm>
            <a:off x="731520" y="3634740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30" name="Text 24"/>
          <p:cNvSpPr/>
          <p:nvPr/>
        </p:nvSpPr>
        <p:spPr>
          <a:xfrm>
            <a:off x="731520" y="3634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⚠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1371600" y="3547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Challenge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371600" y="37764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Granting admin access without leaking it</a:t>
            </a:r>
            <a:endParaRPr lang="en-US" sz="12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703320"/>
            <a:ext cx="365760" cy="36576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5943600" y="3634740"/>
            <a:ext cx="502920" cy="50292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3712464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83680" y="3547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Solution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6583680" y="3776472"/>
            <a:ext cx="4967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Default new sign-ups to role: 'student'.  Members request admin via email; lead flips role in Firestore + custom claims.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457200" y="4407408"/>
            <a:ext cx="11277295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57200" y="4407408"/>
            <a:ext cx="91440" cy="7680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Shape 32"/>
          <p:cNvSpPr/>
          <p:nvPr/>
        </p:nvSpPr>
        <p:spPr>
          <a:xfrm>
            <a:off x="731520" y="4539996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41" name="Text 33"/>
          <p:cNvSpPr/>
          <p:nvPr/>
        </p:nvSpPr>
        <p:spPr>
          <a:xfrm>
            <a:off x="731520" y="45399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⚠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1371600" y="4453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Challenge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1371600" y="46817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Stripe + auto-enrollment on payment success</a:t>
            </a:r>
            <a:endParaRPr lang="en-US" sz="125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4608576"/>
            <a:ext cx="365760" cy="36576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5943600" y="4539996"/>
            <a:ext cx="502920" cy="50292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6752" y="4617720"/>
            <a:ext cx="365760" cy="36576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583680" y="4453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Solution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6583680" y="4681728"/>
            <a:ext cx="4967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Server-side Checkout Session; on confirmation, Cloud function/Server Action writes a new enrollment doc atomically.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457200" y="5312664"/>
            <a:ext cx="11277295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457200" y="5312664"/>
            <a:ext cx="91440" cy="7680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1" name="Shape 41"/>
          <p:cNvSpPr/>
          <p:nvPr/>
        </p:nvSpPr>
        <p:spPr>
          <a:xfrm>
            <a:off x="731520" y="5445252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52" name="Text 42"/>
          <p:cNvSpPr/>
          <p:nvPr/>
        </p:nvSpPr>
        <p:spPr>
          <a:xfrm>
            <a:off x="731520" y="54452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⚠</a:t>
            </a:r>
            <a:endParaRPr lang="en-US" sz="1600" dirty="0"/>
          </a:p>
        </p:txBody>
      </p:sp>
      <p:sp>
        <p:nvSpPr>
          <p:cNvPr id="53" name="Text 43"/>
          <p:cNvSpPr/>
          <p:nvPr/>
        </p:nvSpPr>
        <p:spPr>
          <a:xfrm>
            <a:off x="13716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Challenge</a:t>
            </a:r>
            <a:endParaRPr lang="en-US" sz="1000" dirty="0"/>
          </a:p>
        </p:txBody>
      </p:sp>
      <p:sp>
        <p:nvSpPr>
          <p:cNvPr id="54" name="Text 44"/>
          <p:cNvSpPr/>
          <p:nvPr/>
        </p:nvSpPr>
        <p:spPr>
          <a:xfrm>
            <a:off x="1371600" y="55869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Keeping progress in sync across devices</a:t>
            </a:r>
            <a:endParaRPr lang="en-US" sz="1250" dirty="0"/>
          </a:p>
        </p:txBody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5513832"/>
            <a:ext cx="365760" cy="365760"/>
          </a:xfrm>
          <a:prstGeom prst="rect">
            <a:avLst/>
          </a:prstGeom>
        </p:spPr>
      </p:pic>
      <p:sp>
        <p:nvSpPr>
          <p:cNvPr id="56" name="Shape 45"/>
          <p:cNvSpPr/>
          <p:nvPr/>
        </p:nvSpPr>
        <p:spPr>
          <a:xfrm>
            <a:off x="5943600" y="5445252"/>
            <a:ext cx="502920" cy="50292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6752" y="5522976"/>
            <a:ext cx="365760" cy="365760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658368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Solution</a:t>
            </a:r>
            <a:endParaRPr lang="en-US" sz="1000" dirty="0"/>
          </a:p>
        </p:txBody>
      </p:sp>
      <p:sp>
        <p:nvSpPr>
          <p:cNvPr id="59" name="Text 47"/>
          <p:cNvSpPr/>
          <p:nvPr/>
        </p:nvSpPr>
        <p:spPr>
          <a:xfrm>
            <a:off x="6583680" y="5586984"/>
            <a:ext cx="4967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Single source of truth in Firestore — write completedLessons[] + recompute progress on every lesson finish.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18</a:t>
            </a:r>
            <a:endParaRPr lang="en-US" sz="900" dirty="0"/>
          </a:p>
        </p:txBody>
      </p:sp>
      <p:sp>
        <p:nvSpPr>
          <p:cNvPr id="61" name="Text 49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went well · What we'd improve next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6235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623560" cy="914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What went well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Clear ownership: one person per page = fewer merge conflicts.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Stitch mockups before coding sped up implementation a lot.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Firestore schema written up front — no rewrites mid-sprint.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Pulling daily from main kept everyone unblocked.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Stripe + Firebase Auth integrated faster than expected.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486400" cy="4572000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691640"/>
            <a:ext cx="5486400" cy="914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What we'd improve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83680" y="260604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Add automated tests (Vitest + Playwright) earlier.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Define a shared component library (buttons, cards) day-1.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Use Storybook to align design with code visually.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Tighter naming convention for branches (feat/fix/refactor).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Set up CI lint + type-check before merging PRs.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/ 18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AI helped — and where we kept humans in the loop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400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88236"/>
            <a:ext cx="685800" cy="68580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2539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56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Code generation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2219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Scaffolding routes, components and Firebase queries from short prompts.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6400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3076956"/>
            <a:ext cx="685800" cy="68580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21411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044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Debugging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54480" y="34107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Pasting stack traces / TS errors and getting fix candidates fast.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4069080"/>
            <a:ext cx="6400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4265676"/>
            <a:ext cx="685800" cy="68580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02836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233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Docs &amp; schema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45994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Drafting Firestore schema docs + this presentation.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5257800"/>
            <a:ext cx="6400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5454396"/>
            <a:ext cx="685800" cy="68580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59155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5422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Code review hints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554480" y="57881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Second opinion on PRs before merge — naming, edge cases, perf.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040880" y="1691640"/>
            <a:ext cx="4709160" cy="457200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26948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Our AI principles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315200" y="246888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AE6FD"/>
                </a:solidFill>
              </a:rPr>
              <a:t>AI drafts → human reviews and tests.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AE6FD"/>
                </a:solidFill>
              </a:rPr>
              <a:t>Never paste secrets / .env into prompts.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AE6FD"/>
                </a:solidFill>
              </a:rPr>
              <a:t>AI explains the code we don't understand yet.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AE6FD"/>
                </a:solidFill>
              </a:rPr>
              <a:t>Final commit message is human-written.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AE6FD"/>
                </a:solidFill>
              </a:rPr>
              <a:t>No AI-generated content goes live unverified.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 / 18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Code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we'll walk through on screen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6235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0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Demo flow (≈ 7 minutes)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F172A"/>
                </a:solidFill>
              </a:rPr>
              <a:t>Open  /  →  Marketing landing.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F172A"/>
                </a:solidFill>
              </a:rPr>
              <a:t>/courses  →  filter by category, level &amp; price.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F172A"/>
                </a:solidFill>
              </a:rPr>
              <a:t>Click a paid course  →  Stripe Checkout.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F172A"/>
                </a:solidFill>
              </a:rPr>
              <a:t>Auto-enroll  →  /dashboard with new course.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F172A"/>
                </a:solidFill>
              </a:rPr>
              <a:t>/mylearning/[id]  →  watch a lesson, mark complete.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F172A"/>
                </a:solidFill>
              </a:rPr>
              <a:t>/admin  →  KPIs + add a new course.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486400" cy="4572000"/>
          </a:xfrm>
          <a:prstGeom prst="rect">
            <a:avLst/>
          </a:prstGeom>
          <a:solidFill>
            <a:srgbClr val="0B1F3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920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Code we'll highlight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446520" y="2606040"/>
            <a:ext cx="512064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9"/>
          <p:cNvSpPr/>
          <p:nvPr/>
        </p:nvSpPr>
        <p:spPr>
          <a:xfrm>
            <a:off x="6446520" y="2606040"/>
            <a:ext cx="51206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0"/>
          <p:cNvSpPr/>
          <p:nvPr/>
        </p:nvSpPr>
        <p:spPr>
          <a:xfrm>
            <a:off x="649224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mark-complete.ts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8388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stripe-checkout.ts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87552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useAuth.ts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583680" y="2926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Mark a lesson complete in Firestore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583680" y="3200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updateDoc(enrollmentRef, {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83680" y="3474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completedLessons: arrayUnion(lessonId),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583680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lastLessonId: lessonId,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83680" y="4023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progress: pct(completed, total),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583680" y="4297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583680" y="4572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583680" y="4846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Server-side Stripe Checkout Session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583680" y="5120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session = await stripe.checkout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583680" y="53949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.sessions.create({ ...lineItems, mode });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583680" y="5669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NextResponse.redirect(session.url);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 / 18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1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Tips, Tools &amp; Resources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Stuff we'd recommend to other teams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57621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576218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777240" cy="77724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03120"/>
            <a:ext cx="2204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Tips that saved us time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293613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Read the framework's local docs first (node_modules/next/dist/docs).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Type your data once — share interfaces across the app.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Seed demo data so the app never feels empty.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Pull before you push. Always.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07738" y="1691640"/>
            <a:ext cx="357621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7738" y="1691640"/>
            <a:ext cx="3576218" cy="91440"/>
          </a:xfrm>
          <a:prstGeom prst="rect">
            <a:avLst/>
          </a:prstGeom>
          <a:solidFill>
            <a:srgbClr val="1E5BA8"/>
          </a:solidFill>
          <a:ln/>
        </p:spPr>
      </p:sp>
      <p:sp>
        <p:nvSpPr>
          <p:cNvPr id="13" name="Shape 10"/>
          <p:cNvSpPr/>
          <p:nvPr/>
        </p:nvSpPr>
        <p:spPr>
          <a:xfrm>
            <a:off x="4582058" y="2057400"/>
            <a:ext cx="777240" cy="77724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1E5BA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938" y="22402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96458" y="2103120"/>
            <a:ext cx="2204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Useful tools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73498" y="3108960"/>
            <a:ext cx="293613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Stitch (Google) for fast UI prototyping.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shadcn/ui  +  Radix UI primitives.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react-icons for instant icon coverage.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Firebase Emulator Suite for local dev.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58277" y="1691640"/>
            <a:ext cx="3576218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58277" y="1691640"/>
            <a:ext cx="3576218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Shape 15"/>
          <p:cNvSpPr/>
          <p:nvPr/>
        </p:nvSpPr>
        <p:spPr>
          <a:xfrm>
            <a:off x="8432597" y="2057400"/>
            <a:ext cx="777240" cy="777240"/>
          </a:xfrm>
          <a:prstGeom prst="ellipse">
            <a:avLst/>
          </a:prstGeom>
          <a:solidFill>
            <a:srgbClr val="EEF4FB"/>
          </a:solidFill>
          <a:ln w="19050">
            <a:solidFill>
              <a:srgbClr val="0EA5E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477" y="22402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46997" y="2103120"/>
            <a:ext cx="2204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Resources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524037" y="3108960"/>
            <a:ext cx="293613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nextjs.org/docs — App Router patterns.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firebase.google.com/docs — Auth + Firestore + rules.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stripe.com/docs/checkout — server-side sessions.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tailwindcss.com — utility-first styling.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 / 18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6576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LexBlue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4572000" cy="4572000"/>
          </a:xfrm>
          <a:prstGeom prst="ellipse">
            <a:avLst/>
          </a:prstGeom>
          <a:solidFill>
            <a:srgbClr val="1E5BA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80160"/>
            <a:ext cx="914400" cy="9144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7" name="Text 4"/>
          <p:cNvSpPr/>
          <p:nvPr/>
        </p:nvSpPr>
        <p:spPr>
          <a:xfrm>
            <a:off x="82296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AE6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Questions, feedback &amp; live demo →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4846320"/>
            <a:ext cx="10515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Project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LexBlue – E-Learning Platform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Team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Ahmad · Ahmed · Erik · Shada · Irene · Johan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LexBlue – E-Learning Platform</dc:title>
  <dc:subject>PptxGenJS Presentation</dc:subject>
  <dc:creator>LexBlue Team</dc:creator>
  <cp:lastModifiedBy>LexBlue Team</cp:lastModifiedBy>
  <cp:revision>1</cp:revision>
  <dcterms:created xsi:type="dcterms:W3CDTF">2026-05-07T19:53:58Z</dcterms:created>
  <dcterms:modified xsi:type="dcterms:W3CDTF">2026-05-07T19:53:58Z</dcterms:modified>
</cp:coreProperties>
</file>